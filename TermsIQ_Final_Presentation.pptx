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50" b="0" i="0" u="none" strike="noStrike">
                <a:solidFill>
                  <a:srgbClr val="1E293B"/>
                </a:solidFill>
                <a:latin typeface="Arial"/>
              </a:rPr>
              <a:t>Annual cost vs. quantified benefit (midpoint)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12345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210205</c:v>
                </c:pt>
                <c:pt idx="1">
                  <c:v>133010</c:v>
                </c:pt>
                <c:pt idx="2">
                  <c:v>133010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Benefit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20950</c:v>
                </c:pt>
                <c:pt idx="1">
                  <c:v>41900</c:v>
                </c:pt>
                <c:pt idx="2">
                  <c:v>41900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€#,##0,K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seconds. Introduce yourself and the project name. One line: TermsIQ extracts the five Terms &amp; Conditions fields that cause the most friction at the rental counter, directly from supplier documents, using AI. Acknowledge the panel: this talk is built to answer a different question for each of you — investment case, liability, technical viability, and operational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1-2 minutes. Open with the debit-card-at-the-counter scenario — make it concrete before the stats. Then land the three numbers: 6,016 complaints, 55% of intermediaries non-compliant, 5 named suppliers already actioned by the EC. Close the slide with the throughline: when the actual terms differ from what was shown at booking, the complaint travels upstream through the OTA to the aggregator — the aggregator carries liability it didn't create and currently can't see coming. Why does this persist without AI? Because the volume and variety of source formats (PDF/Excel/web, multiple languages, no API) makes manual tracking fundamentally reactive, not proactive.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1-2 minutes. Lead with the one-sentence solution statement, then name the AI type plainly for the non-specialist panel members: it's an LLM reading documents and producing structured data, not a black box. Walk the five stages left to right as the diagram builds the picture — ingest any format, extract the five fields, validate with confidence scoring, store with full version history, serve through the existing API. Mention the dual-provider design briefly as a resilience point for the CTO without dwelling on it — the POC demo on the next slide is where the real technical proof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minutes. Run the live POC or play the recorded backup now. Narrate as it runs: 'This is the trigger — a real Hertz Spain T&amp;C PDF URL.' 'Here the AI is reading the document and extracting five fields with confidence scores.' 'And this is the output — structured JSON with a confidence score and a source quote on every field.' After the demo, point to the results table: four suppliers, three source types (PDF, web HTML, a JS-rendered page that needed a PDF fallback), two languages, 20 out of 20 fields correct against manually verified ground truth — including the nulls, which are correct answers when a field is genuinely absent from that document, not failures. Be explicit about what the POC does and doesn't prove: it proves the extraction approach works on real, messy documents; it doesn't yet prove production-scale crawling, OCR for scanned PDFs, or a live human-review interface — those are explicitly Phase 2 scope, not gaps in the thinking. If the live demo fails: switch immediately to the backup recording, no apology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1-2 minutes. Lead with the honest framing, not a sales pitch: on quantified cost-saving streams alone, this doesn't pay back fast — 12-month ROI is -90%, 36-month is -78%, break-even sits around month 67. That's normal for a build-year-heavy software investment, not a red flag, but don't undersell it either. Then pivot to why the case still holds: a single avoided EU regulatory enforcement action — 10% per year probability, €50k-500k exposure per the risk assessment — pulls break-even down to 18-24 months on its own, and the commercial-differentiation upside (signing OTA partners who currently have no T&amp;C-quality option) isn't in the conservative base case at all. The honest pitch to the CEO: this is a risk-avoidance and differentiation investment first, a cost-saving one second — and the numbers say that plainly rather than hiding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minute. Don't read the full risk register — name these three only, the ones the full assessment itself flags as top priority. R4 (LLM hallucination) is the highest-rated risk in the whole register and the one most specific to AI systems generally, so give it the most weight; the others are real but more conventional project risks. Close with: these risks are manageable — that's what the mitigation column is for, and none of them are unaddressed unknowns at this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1-2 minutes. This is the slide Legal/Compliance cares about most, so don't rush it. State the EU AI Act classification and the one-sentence reasoning — Limited Risk, Article 50, because TermsIQ extracts factual fields for B2B use rather than making individualised decisions about a specific customer. If it ever expanded into per-customer recommendations, that classification would need revisiting (that's gap G3 in the full documentation). On GDPR, lead with the most important finding: this system does not process personal data as its primary function — it reads supplier commercial documents. The one place personal data could theoretically slip in (the LLM call to OpenAI) was specifically risk-assessed and rated Low residual risk after mitigations. Don't hide the open items — naming G1/G2 and the pending DPO sign-off yourself, before anyone on the panel asks, is what makes this credible rather than a sales gloss.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1-2 minutes. Walk the timeline left to right quickly — Phase 1 is done (point back to the demo just shown), Phase 2 is the pilot ask, Phase 3 is where the OTA-facing value actually starts, Phase 4 is optional upside. On GTM, keep it to the 2-3 sentences as written: who buys, how, at what price. On the greenlight metrics, be specific — these are the exact bar the pilot has to clear before a go/no-go on full deployment, not vague aspirations. On commercialisation, name it as a hybrid model explicitly: subscription is the long-term relationship, the onboarding fee covers real per-client setup work, and the licence option exists for the subset of enterprise clients self-hosting requirements would otherwise exclude.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1-2 minutes. Keep this short — the POC demo was the main event. Run the Gradio UI live or play the recording: pick a preset, run it, show the result card with confidence badges and source quotes. The narrative is simple: here is what the POC showed was possible on one document; here is the beginning of the real product, which tries multiple sources automatically and only falls back to a supplier-curated answer or an honest 'needs confirmation' message when no document resolves a field. The headline number: 25 out of 25 fields resolved across all five supplier/country combinations, zero requiring human review — up from the POC's 20/20, which included several correct nulls rather than resolved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seconds. Close with confidence, not a recap. One sentence on business value, one on compliance status, then the ask: a 60-day pilot, scoped to the top 50 supplier/country combinations with one OTA-facing client, starting in shadow mode before anything goes live to a real customer. Stop talking after the ask — let the panel respond.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3.png"/><Relationship Id="rId6" Type="http://schemas.openxmlformats.org/officeDocument/2006/relationships/image" Target="../media/image-3-6.png"/><Relationship Id="rId7" Type="http://schemas.openxmlformats.org/officeDocument/2006/relationships/image" Target="../media/image-3-3.png"/><Relationship Id="rId8" Type="http://schemas.openxmlformats.org/officeDocument/2006/relationships/image" Target="../media/image-3-8.png"/><Relationship Id="rId9" Type="http://schemas.openxmlformats.org/officeDocument/2006/relationships/image" Target="../media/image-3-3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3.png"/><Relationship Id="rId5" Type="http://schemas.openxmlformats.org/officeDocument/2006/relationships/image" Target="../media/image-7-3.png"/><Relationship Id="rId6" Type="http://schemas.openxmlformats.org/officeDocument/2006/relationships/image" Target="../media/image-7-6.png"/><Relationship Id="rId7" Type="http://schemas.openxmlformats.org/officeDocument/2006/relationships/image" Target="../media/image-7-3.png"/><Relationship Id="rId8" Type="http://schemas.openxmlformats.org/officeDocument/2006/relationships/image" Target="../media/image-7-3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5.png"/><Relationship Id="rId6" Type="http://schemas.openxmlformats.org/officeDocument/2006/relationships/image" Target="../media/image-9-5.png"/><Relationship Id="rId7" Type="http://schemas.openxmlformats.org/officeDocument/2006/relationships/image" Target="../media/image-9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4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685800"/>
            <a:ext cx="822960" cy="82296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3" name="Image 0" descr="assets/file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0423" y="825703"/>
            <a:ext cx="543154" cy="5431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6916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TermsIQ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914400" y="2487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Terms &amp; Conditions Extraction for Car Rental Distribution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023360" y="3063240"/>
            <a:ext cx="1097280" cy="0"/>
          </a:xfrm>
          <a:prstGeom prst="line">
            <a:avLst/>
          </a:prstGeom>
          <a:noFill/>
          <a:ln w="15875">
            <a:solidFill>
              <a:srgbClr val="2C4A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2461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— Final Project · IronHack AI Engineering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1440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Dilia Navarro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389888" y="429768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1A4570"/>
          </a:solidFill>
          <a:ln/>
        </p:spPr>
      </p:sp>
      <p:sp>
        <p:nvSpPr>
          <p:cNvPr id="10" name="Text 7"/>
          <p:cNvSpPr/>
          <p:nvPr/>
        </p:nvSpPr>
        <p:spPr>
          <a:xfrm>
            <a:off x="1389888" y="42976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017520" y="429768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1A4570"/>
          </a:solidFill>
          <a:ln/>
        </p:spPr>
      </p:sp>
      <p:sp>
        <p:nvSpPr>
          <p:cNvPr id="12" name="Text 9"/>
          <p:cNvSpPr/>
          <p:nvPr/>
        </p:nvSpPr>
        <p:spPr>
          <a:xfrm>
            <a:off x="3017520" y="42976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45152" y="429768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1A4570"/>
          </a:solidFill>
          <a:ln/>
        </p:spPr>
      </p:sp>
      <p:sp>
        <p:nvSpPr>
          <p:cNvPr id="14" name="Text 11"/>
          <p:cNvSpPr/>
          <p:nvPr/>
        </p:nvSpPr>
        <p:spPr>
          <a:xfrm>
            <a:off x="4645152" y="42976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72784" y="429768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1A4570"/>
          </a:solidFill>
          <a:ln/>
        </p:spPr>
      </p:sp>
      <p:sp>
        <p:nvSpPr>
          <p:cNvPr id="16" name="Text 13"/>
          <p:cNvSpPr/>
          <p:nvPr/>
        </p:nvSpPr>
        <p:spPr>
          <a:xfrm>
            <a:off x="6272784" y="42976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3" name="Image 0" descr="assets/excla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010" y="460858"/>
            <a:ext cx="358445" cy="358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" y="5669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liability travels upstream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50292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37160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customer books a Sixt rental in Madrid through an OTA.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counter, their debit card is refused — the booking required a credit card, a rule buried in a PDF nobody at the OTA, or the aggregator behind it, had actually read.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2542032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happens because supplier Terms &amp; Conditions — third-party liability cover, pickup grace periods, licence rules, payment rules, cross-border conditions — arrive as PDFs, Excel files, and web pages in a dozen languages, change without notice, and are almost never delivered via API.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" y="3611880"/>
            <a:ext cx="4526280" cy="868680"/>
          </a:xfrm>
          <a:prstGeom prst="roundRect">
            <a:avLst>
              <a:gd name="adj" fmla="val 6316"/>
            </a:avLst>
          </a:prstGeom>
          <a:solidFill>
            <a:srgbClr val="EAF0F7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61188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123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content team maintains this by hand today — reactively, after a complaint arrives, not before.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0" y="1143000"/>
            <a:ext cx="30175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97880" y="1216152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6,016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903720" y="1216152"/>
            <a:ext cx="1691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about car rental companies received by the EU Consumer Centres Network in 2025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669280" y="2382012"/>
            <a:ext cx="30175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97880" y="2455164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903720" y="2455164"/>
            <a:ext cx="1691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screened online car rental intermediaries violate EU consumer law on T&amp;C transparency (European Commission)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69280" y="3621024"/>
            <a:ext cx="30175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897880" y="3694176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6903720" y="3694176"/>
            <a:ext cx="1691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suppliers — Hertz, Avis, Europcar, Enterprise, Sixt — formally required by the EC to improve T&amp;C clarity, 2017–2020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595360" y="47960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assets/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010" y="460858"/>
            <a:ext cx="358445" cy="358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" y="5669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it. Extract it. Serve it — live.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10789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TermsIQ is an AI pipeline that reads any supplier T&amp;C document — in any format, any language — and turns it into five structured fields the aggregator's API can serve in real time, each with a confidence score and a verbatim source quote.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1691640"/>
            <a:ext cx="2408663" cy="329184"/>
          </a:xfrm>
          <a:prstGeom prst="roundRect">
            <a:avLst>
              <a:gd name="adj" fmla="val 50000"/>
            </a:avLst>
          </a:prstGeom>
          <a:solidFill>
            <a:srgbClr val="EAFBF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691640"/>
            <a:ext cx="240866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/ LLM extraction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030455" y="1691640"/>
            <a:ext cx="1926931" cy="329184"/>
          </a:xfrm>
          <a:prstGeom prst="roundRect">
            <a:avLst>
              <a:gd name="adj" fmla="val 50000"/>
            </a:avLst>
          </a:prstGeom>
          <a:solidFill>
            <a:srgbClr val="EAFBF8"/>
          </a:solidFill>
          <a:ln/>
        </p:spPr>
      </p:sp>
      <p:sp>
        <p:nvSpPr>
          <p:cNvPr id="10" name="Text 7"/>
          <p:cNvSpPr/>
          <p:nvPr/>
        </p:nvSpPr>
        <p:spPr>
          <a:xfrm>
            <a:off x="3030455" y="1691640"/>
            <a:ext cx="19269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(JSON)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121978" y="1691640"/>
            <a:ext cx="3050974" cy="329184"/>
          </a:xfrm>
          <a:prstGeom prst="roundRect">
            <a:avLst>
              <a:gd name="adj" fmla="val 50000"/>
            </a:avLst>
          </a:prstGeom>
          <a:solidFill>
            <a:srgbClr val="EAFBF8"/>
          </a:solidFill>
          <a:ln/>
        </p:spPr>
      </p:sp>
      <p:sp>
        <p:nvSpPr>
          <p:cNvPr id="12" name="Text 9"/>
          <p:cNvSpPr/>
          <p:nvPr/>
        </p:nvSpPr>
        <p:spPr>
          <a:xfrm>
            <a:off x="5121978" y="1691640"/>
            <a:ext cx="3050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&amp; human-in-the-loop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2331720"/>
            <a:ext cx="1481328" cy="1554480"/>
          </a:xfrm>
          <a:prstGeom prst="roundRect">
            <a:avLst>
              <a:gd name="adj" fmla="val 4938"/>
            </a:avLst>
          </a:prstGeom>
          <a:solidFill>
            <a:srgbClr val="123458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78408" y="2496312"/>
            <a:ext cx="438912" cy="43891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5" name="Image 1" descr="assets/file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569464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8640" y="24048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30352" y="3008376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48640" y="3319272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Excel, web — any format</a:t>
            </a:r>
            <a:endParaRPr lang="en-US" sz="950" dirty="0"/>
          </a:p>
        </p:txBody>
      </p:sp>
      <p:pic>
        <p:nvPicPr>
          <p:cNvPr id="19" name="Image 2" descr="assets/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954" y="3026664"/>
            <a:ext cx="164592" cy="16459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2061972" y="2331720"/>
            <a:ext cx="1481328" cy="1554480"/>
          </a:xfrm>
          <a:prstGeom prst="roundRect">
            <a:avLst>
              <a:gd name="adj" fmla="val 4938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583180" y="2496312"/>
            <a:ext cx="438912" cy="43891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2" name="Image 3" descr="asset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332" y="2569464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153412" y="24048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2135124" y="3008376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2153412" y="3319272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reads &amp; pulls 5 fields</a:t>
            </a:r>
            <a:endParaRPr lang="en-US" sz="950" dirty="0"/>
          </a:p>
        </p:txBody>
      </p:sp>
      <p:pic>
        <p:nvPicPr>
          <p:cNvPr id="26" name="Image 4" descr="assets/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2726" y="3026664"/>
            <a:ext cx="164592" cy="164592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3666744" y="2331720"/>
            <a:ext cx="1481328" cy="1554480"/>
          </a:xfrm>
          <a:prstGeom prst="roundRect">
            <a:avLst>
              <a:gd name="adj" fmla="val 4938"/>
            </a:avLst>
          </a:prstGeom>
          <a:solidFill>
            <a:srgbClr val="123458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187952" y="2496312"/>
            <a:ext cx="438912" cy="43891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9" name="Image 5" descr="assets/clipbo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1104" y="2569464"/>
            <a:ext cx="292608" cy="29260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758184" y="24048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3739896" y="3008376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3758184" y="3319272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scored, flagged if low</a:t>
            </a:r>
            <a:endParaRPr lang="en-US" sz="950" dirty="0"/>
          </a:p>
        </p:txBody>
      </p:sp>
      <p:pic>
        <p:nvPicPr>
          <p:cNvPr id="33" name="Image 6" descr="assets/arrowr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7498" y="3026664"/>
            <a:ext cx="164592" cy="16459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5271516" y="2331720"/>
            <a:ext cx="1481328" cy="1554480"/>
          </a:xfrm>
          <a:prstGeom prst="roundRect">
            <a:avLst>
              <a:gd name="adj" fmla="val 4938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5792724" y="2496312"/>
            <a:ext cx="438912" cy="43891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36" name="Image 7" descr="assets/databas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5876" y="2569464"/>
            <a:ext cx="292608" cy="29260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362956" y="24048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28"/>
          <p:cNvSpPr/>
          <p:nvPr/>
        </p:nvSpPr>
        <p:spPr>
          <a:xfrm>
            <a:off x="5344668" y="3008376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Version</a:t>
            </a:r>
            <a:endParaRPr lang="en-US" sz="1300" dirty="0"/>
          </a:p>
        </p:txBody>
      </p:sp>
      <p:sp>
        <p:nvSpPr>
          <p:cNvPr id="39" name="Text 29"/>
          <p:cNvSpPr/>
          <p:nvPr/>
        </p:nvSpPr>
        <p:spPr>
          <a:xfrm>
            <a:off x="5362956" y="3319272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base, Germany-hosted</a:t>
            </a:r>
            <a:endParaRPr lang="en-US" sz="950" dirty="0"/>
          </a:p>
        </p:txBody>
      </p:sp>
      <p:pic>
        <p:nvPicPr>
          <p:cNvPr id="40" name="Image 8" descr="assets/arrowrigh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2270" y="3026664"/>
            <a:ext cx="164592" cy="164592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6876288" y="2331720"/>
            <a:ext cx="1481328" cy="1554480"/>
          </a:xfrm>
          <a:prstGeom prst="roundRect">
            <a:avLst>
              <a:gd name="adj" fmla="val 4938"/>
            </a:avLst>
          </a:prstGeom>
          <a:solidFill>
            <a:srgbClr val="123458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2" name="Shape 31"/>
          <p:cNvSpPr/>
          <p:nvPr/>
        </p:nvSpPr>
        <p:spPr>
          <a:xfrm>
            <a:off x="7397496" y="2496312"/>
            <a:ext cx="438912" cy="43891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43" name="Image 9" descr="assets/serv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70648" y="2569464"/>
            <a:ext cx="292608" cy="292608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6967728" y="24048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5" name="Text 33"/>
          <p:cNvSpPr/>
          <p:nvPr/>
        </p:nvSpPr>
        <p:spPr>
          <a:xfrm>
            <a:off x="6949440" y="3008376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&amp; Monitor</a:t>
            </a:r>
            <a:endParaRPr lang="en-US" sz="1300" dirty="0"/>
          </a:p>
        </p:txBody>
      </p:sp>
      <p:sp>
        <p:nvSpPr>
          <p:cNvPr id="46" name="Text 34"/>
          <p:cNvSpPr/>
          <p:nvPr/>
        </p:nvSpPr>
        <p:spPr>
          <a:xfrm>
            <a:off x="6967728" y="3319272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Appended to API, daily change checks</a:t>
            </a:r>
            <a:endParaRPr lang="en-US" sz="950" dirty="0"/>
          </a:p>
        </p:txBody>
      </p:sp>
      <p:sp>
        <p:nvSpPr>
          <p:cNvPr id="47" name="Text 3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Dual-provider LLM architecture (OpenAI GPT-4o primary, Anthropic Claude fallback) — built so a single vendor outage or rate limit never stops the pipeline.</a:t>
            </a:r>
            <a:endParaRPr lang="en-US" sz="1100" dirty="0"/>
          </a:p>
        </p:txBody>
      </p:sp>
      <p:sp>
        <p:nvSpPr>
          <p:cNvPr id="48" name="Text 36"/>
          <p:cNvSpPr/>
          <p:nvPr/>
        </p:nvSpPr>
        <p:spPr>
          <a:xfrm>
            <a:off x="8595360" y="47960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rgbClr val="123458"/>
          </a:solidFill>
          <a:ln/>
        </p:spPr>
      </p:sp>
      <p:pic>
        <p:nvPicPr>
          <p:cNvPr id="3" name="Image 0" descr="asset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010" y="460858"/>
            <a:ext cx="358445" cy="358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SHOW, DON'T TELL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" y="5669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Demo — real supplier documents, live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1792" y="1216152"/>
            <a:ext cx="420624" cy="420624"/>
          </a:xfrm>
          <a:prstGeom prst="ellipse">
            <a:avLst/>
          </a:prstGeom>
          <a:solidFill>
            <a:srgbClr val="123458"/>
          </a:solidFill>
          <a:ln/>
        </p:spPr>
      </p:sp>
      <p:pic>
        <p:nvPicPr>
          <p:cNvPr id="8" name="Image 1" descr="assets/file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92" y="1283452"/>
            <a:ext cx="286024" cy="2860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52144" y="11978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21792" y="161848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supplier URL or local PDF — e.g. Hertz's Spain rental terms.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273552" y="105156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438144" y="1216152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2" descr="asset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444" y="1283452"/>
            <a:ext cx="286024" cy="2860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68496" y="11978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438144" y="161848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reads the text and extracts all 5 fields with confidence scores.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089904" y="105156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254496" y="1216152"/>
            <a:ext cx="420624" cy="420624"/>
          </a:xfrm>
          <a:prstGeom prst="ellipse">
            <a:avLst/>
          </a:prstGeom>
          <a:solidFill>
            <a:srgbClr val="123458"/>
          </a:solidFill>
          <a:ln/>
        </p:spPr>
      </p:sp>
      <p:pic>
        <p:nvPicPr>
          <p:cNvPr id="18" name="Image 3" descr="asset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796" y="1283452"/>
            <a:ext cx="286024" cy="2860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84848" y="11978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254496" y="161848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— each field with a confidence score and a verbatim source quote.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results — 4 suppliers, 3 source types, 2 languages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78608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Hertz ES (PDF)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Sixt ES (Web)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Hertz DE (PDF)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Goldcar ES (PDF fallback)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5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TPL amount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Grace period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</a:rPr>
                        <a:t>null*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</a:rPr>
                        <a:t>null*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</a:rPr>
                        <a:t>null*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Licence rules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</a:rPr>
                        <a:t>null*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</a:rPr>
                        <a:t>null*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Payment rules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Cross-border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1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*null = correctly absent from this document, not a failure — these suppliers genuinely don't state this field here. Overall: 20/20 fields (100%) against verified ground truth.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457200" y="437083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EAF0F7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640080" y="43708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3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multi-format, multi-language extraction against verified ground truth.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3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yet prove: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production-scale crawling, OCR, or a live human-review UI — that's Phase 2.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8595360" y="47960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assets/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010" y="460858"/>
            <a:ext cx="358445" cy="358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" y="5669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vs. benefit, stated honestly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50292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658368" y="1207008"/>
          <a:ext cx="4626864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669280" y="1051560"/>
            <a:ext cx="30175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852160" y="11247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−90%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5852160" y="156362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ROI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852160" y="17830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€210,205 cost vs €20,950 benefit — Year 1 is investment-heavy; system goes live month 7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5669280" y="2253996"/>
            <a:ext cx="30175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852160" y="23271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−78%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5852160" y="276606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36-month ROI (base case)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852160" y="29855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−59% including commercial-differentiation upside (Stream 3)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669280" y="3456432"/>
            <a:ext cx="30175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852160" y="35295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Mo. 67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5852160" y="396849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(base case)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852160" y="41879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48 with commercial upside · Month 18–24 if one regulatory action is avoided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based on industry benchmarks and the ROI document's own assumptions — actual figures would be validated during the Phase 2 pilot.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8595360" y="47960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3" name="Image 0" descr="asset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010" y="460858"/>
            <a:ext cx="358445" cy="358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" y="5669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risks could derail this — here's the plan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2679192" cy="338328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2618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148840" y="131673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148840" y="13167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0080" y="1700784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hallucination on critical fields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2304288"/>
            <a:ext cx="2313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confidently wrong extraction (wrong grace period, wrong TPL) reaches a customer at booking, with no recourse at the counter.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3383280"/>
            <a:ext cx="231343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74720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" y="3694176"/>
            <a:ext cx="2313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thresholds + mandatory human review · COB cross-check as a second source · “serve nothing rather than serve wrong” fallback policy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78124" y="1097280"/>
            <a:ext cx="2679192" cy="338328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461004" y="12618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969764" y="131673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8" name="Text 15"/>
          <p:cNvSpPr/>
          <p:nvPr/>
        </p:nvSpPr>
        <p:spPr>
          <a:xfrm>
            <a:off x="4969764" y="13167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461004" y="1700784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classification obligations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461004" y="2304288"/>
            <a:ext cx="2313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Act's obligations are phasing in through 2026–2027; a system shaping consumer-facing booking data needs classification now.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461004" y="3383280"/>
            <a:ext cx="231343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61004" y="3474720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461004" y="3694176"/>
            <a:ext cx="2313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legal review already budgeted · audit trail and confidence logging built in from day one · named internal compliance owner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099048" y="1097280"/>
            <a:ext cx="2679192" cy="338328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281928" y="12618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7790688" y="131673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27" name="Text 24"/>
          <p:cNvSpPr/>
          <p:nvPr/>
        </p:nvSpPr>
        <p:spPr>
          <a:xfrm>
            <a:off x="7790688" y="13167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281928" y="1700784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team adoption resistance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281928" y="2304288"/>
            <a:ext cx="2313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can work perfectly and still fail if the team running the human review queue disengages from it.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281928" y="3383280"/>
            <a:ext cx="231343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81928" y="3474720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281928" y="3694176"/>
            <a:ext cx="2313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co-design workshops from week 2 · role reframed as data governance, not replacement · time-saving shown early, by week 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595360" y="47960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rgbClr val="123458"/>
          </a:solidFill>
          <a:ln/>
        </p:spPr>
      </p:sp>
      <p:pic>
        <p:nvPicPr>
          <p:cNvPr id="3" name="Image 0" descr="assets/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010" y="460858"/>
            <a:ext cx="358445" cy="358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LEGAL &amp; COMPLIANCE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" y="5669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Classified, documented, and honest about the gaps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397764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" y="1207008"/>
            <a:ext cx="384048" cy="384048"/>
          </a:xfrm>
          <a:prstGeom prst="ellipse">
            <a:avLst/>
          </a:prstGeom>
          <a:solidFill>
            <a:srgbClr val="123458"/>
          </a:solidFill>
          <a:ln/>
        </p:spPr>
      </p:sp>
      <p:pic>
        <p:nvPicPr>
          <p:cNvPr id="8" name="Image 1" descr="assets/gav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" y="1264615"/>
            <a:ext cx="268834" cy="2688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52144" y="12070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58368" y="16916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EAFBF8"/>
          </a:solidFill>
          <a:ln/>
        </p:spPr>
      </p:sp>
      <p:sp>
        <p:nvSpPr>
          <p:cNvPr id="11" name="Text 7"/>
          <p:cNvSpPr/>
          <p:nvPr/>
        </p:nvSpPr>
        <p:spPr>
          <a:xfrm>
            <a:off x="658368" y="16916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Risk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58368" y="20848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50 transparency obligations apply — not High Risk, because TermsIQ extracts factual fields for B2B use and doesn't make individualised decisions about a customer.</a:t>
            </a:r>
            <a:endParaRPr lang="en-US" sz="1000" dirty="0"/>
          </a:p>
        </p:txBody>
      </p:sp>
      <p:pic>
        <p:nvPicPr>
          <p:cNvPr id="13" name="Image 2" descr="asset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743200"/>
            <a:ext cx="146304" cy="1463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7824" y="272491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carries source, extracted_at, and confidence metadata</a:t>
            </a:r>
            <a:endParaRPr lang="en-US" sz="950" dirty="0"/>
          </a:p>
        </p:txBody>
      </p:sp>
      <p:pic>
        <p:nvPicPr>
          <p:cNvPr id="15" name="Image 3" descr="asset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099816"/>
            <a:ext cx="146304" cy="14630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7824" y="308152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gate before any low-confidence field goes live</a:t>
            </a:r>
            <a:endParaRPr lang="en-US" sz="950" dirty="0"/>
          </a:p>
        </p:txBody>
      </p:sp>
      <p:pic>
        <p:nvPicPr>
          <p:cNvPr id="17" name="Image 4" descr="asset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456432"/>
            <a:ext cx="146304" cy="14630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77824" y="343814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partners advised to label AI-extracted content downstream</a:t>
            </a:r>
            <a:endParaRPr lang="en-US" sz="950" dirty="0"/>
          </a:p>
        </p:txBody>
      </p:sp>
      <p:sp>
        <p:nvSpPr>
          <p:cNvPr id="19" name="Shape 12"/>
          <p:cNvSpPr/>
          <p:nvPr/>
        </p:nvSpPr>
        <p:spPr>
          <a:xfrm>
            <a:off x="4617720" y="1051560"/>
            <a:ext cx="406908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4818888" y="1207008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5" descr="assets/user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495" y="1264615"/>
            <a:ext cx="268834" cy="26883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312664" y="12070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400" dirty="0"/>
          </a:p>
        </p:txBody>
      </p:sp>
      <p:sp>
        <p:nvSpPr>
          <p:cNvPr id="23" name="Shape 15"/>
          <p:cNvSpPr/>
          <p:nvPr/>
        </p:nvSpPr>
        <p:spPr>
          <a:xfrm>
            <a:off x="4818888" y="169164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EAFBF8"/>
          </a:solidFill>
          <a:ln/>
        </p:spPr>
      </p:sp>
      <p:sp>
        <p:nvSpPr>
          <p:cNvPr id="24" name="Text 16"/>
          <p:cNvSpPr/>
          <p:nvPr/>
        </p:nvSpPr>
        <p:spPr>
          <a:xfrm>
            <a:off x="4818888" y="1691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data, primary function</a:t>
            </a:r>
            <a:endParaRPr lang="en-US" sz="950" dirty="0"/>
          </a:p>
        </p:txBody>
      </p:sp>
      <p:sp>
        <p:nvSpPr>
          <p:cNvPr id="25" name="Text 17"/>
          <p:cNvSpPr/>
          <p:nvPr/>
        </p:nvSpPr>
        <p:spPr>
          <a:xfrm>
            <a:off x="4818888" y="208483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TermsIQ processes supplier commercial documents, not customer data. The one activity sent to a third party (LLM extraction via OpenAI) was DPIA-assessed — residual risk: Low.</a:t>
            </a:r>
            <a:endParaRPr lang="en-US" sz="1000" dirty="0"/>
          </a:p>
        </p:txBody>
      </p:sp>
      <p:pic>
        <p:nvPicPr>
          <p:cNvPr id="26" name="Image 6" descr="asset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2743200"/>
            <a:ext cx="146304" cy="14630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038344" y="27249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Germany North — contractual EU data residency</a:t>
            </a:r>
            <a:endParaRPr lang="en-US" sz="950" dirty="0"/>
          </a:p>
        </p:txBody>
      </p:sp>
      <p:pic>
        <p:nvPicPr>
          <p:cNvPr id="28" name="Image 7" descr="asset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8888" y="3099816"/>
            <a:ext cx="146304" cy="146304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038344" y="308152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Zero-Data-Retention terms exclude training on submitted text</a:t>
            </a:r>
            <a:endParaRPr lang="en-US" sz="950" dirty="0"/>
          </a:p>
        </p:txBody>
      </p:sp>
      <p:pic>
        <p:nvPicPr>
          <p:cNvPr id="30" name="Image 8" descr="assets/exclamation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8888" y="3456432"/>
            <a:ext cx="146304" cy="146304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038344" y="343814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sign-off on the DPIA still pending before go-live</a:t>
            </a:r>
            <a:endParaRPr lang="en-US" sz="950" dirty="0"/>
          </a:p>
        </p:txBody>
      </p:sp>
      <p:sp>
        <p:nvSpPr>
          <p:cNvPr id="32" name="Shape 21"/>
          <p:cNvSpPr/>
          <p:nvPr/>
        </p:nvSpPr>
        <p:spPr>
          <a:xfrm>
            <a:off x="457200" y="3950208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23458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3" name="Text 22"/>
          <p:cNvSpPr/>
          <p:nvPr/>
        </p:nvSpPr>
        <p:spPr>
          <a:xfrm>
            <a:off x="685800" y="395020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can be deployed compliantly because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process personal data as its core function, every output is labelled and confidence-scored, and no field reaches a customer without passing a review gate. 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contract transparency clause (G1), external AI Act legal review (G2), and DPO sign-off — all scheduled before go-live, not after.</a:t>
            </a:r>
            <a:endParaRPr lang="en-US" sz="1050" dirty="0"/>
          </a:p>
        </p:txBody>
      </p:sp>
      <p:sp>
        <p:nvSpPr>
          <p:cNvPr id="34" name="Text 23"/>
          <p:cNvSpPr/>
          <p:nvPr/>
        </p:nvSpPr>
        <p:spPr>
          <a:xfrm>
            <a:off x="8595360" y="47960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asset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010" y="460858"/>
            <a:ext cx="358445" cy="358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PRODUCTION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" y="5669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phases, from prototype to scale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1993392" cy="1417320"/>
          </a:xfrm>
          <a:prstGeom prst="roundRect">
            <a:avLst>
              <a:gd name="adj" fmla="val 5161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3504" y="116128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3504" y="13990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→ MVP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03504" y="1709928"/>
            <a:ext cx="1536192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03504" y="170992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03504" y="2002536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combos, 25/25 fields, demo-ready</a:t>
            </a:r>
            <a:endParaRPr lang="en-US" sz="850" dirty="0"/>
          </a:p>
        </p:txBody>
      </p:sp>
      <p:pic>
        <p:nvPicPr>
          <p:cNvPr id="12" name="Image 1" descr="assets/arrowrigh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6" y="1696212"/>
            <a:ext cx="128016" cy="12801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551176" y="1051560"/>
            <a:ext cx="1993392" cy="1417320"/>
          </a:xfrm>
          <a:prstGeom prst="roundRect">
            <a:avLst>
              <a:gd name="adj" fmla="val 5161"/>
            </a:avLst>
          </a:prstGeom>
          <a:solidFill>
            <a:srgbClr val="123458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2697480" y="116128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697480" y="13990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2697480" y="1709928"/>
            <a:ext cx="1536192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2697480" y="170992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1–6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697480" y="2002536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build · 1 client, shadow mode ≥4 wks</a:t>
            </a:r>
            <a:endParaRPr lang="en-US" sz="850" dirty="0"/>
          </a:p>
        </p:txBody>
      </p:sp>
      <p:pic>
        <p:nvPicPr>
          <p:cNvPr id="19" name="Image 2" descr="assets/arrowrigh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1696212"/>
            <a:ext cx="128016" cy="12801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645152" y="1051560"/>
            <a:ext cx="1993392" cy="1417320"/>
          </a:xfrm>
          <a:prstGeom prst="roundRect">
            <a:avLst>
              <a:gd name="adj" fmla="val 5161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4791456" y="116128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791456" y="13990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4791456" y="1709928"/>
            <a:ext cx="1536192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4791456" y="170992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7+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791456" y="2002536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 OTAs · case study · 2nd &amp; 3rd client</a:t>
            </a:r>
            <a:endParaRPr lang="en-US" sz="850" dirty="0"/>
          </a:p>
        </p:txBody>
      </p:sp>
      <p:pic>
        <p:nvPicPr>
          <p:cNvPr id="26" name="Image 3" descr="assets/arrowrigh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8" y="1696212"/>
            <a:ext cx="128016" cy="128016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6739128" y="1051560"/>
            <a:ext cx="1993392" cy="1417320"/>
          </a:xfrm>
          <a:prstGeom prst="roundRect">
            <a:avLst>
              <a:gd name="adj" fmla="val 5161"/>
            </a:avLst>
          </a:prstGeom>
          <a:solidFill>
            <a:srgbClr val="123458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6885432" y="116128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885432" y="13990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50" dirty="0"/>
          </a:p>
        </p:txBody>
      </p:sp>
      <p:sp>
        <p:nvSpPr>
          <p:cNvPr id="30" name="Shape 24"/>
          <p:cNvSpPr/>
          <p:nvPr/>
        </p:nvSpPr>
        <p:spPr>
          <a:xfrm>
            <a:off x="6885432" y="1709928"/>
            <a:ext cx="1536192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1" name="Text 25"/>
          <p:cNvSpPr/>
          <p:nvPr/>
        </p:nvSpPr>
        <p:spPr>
          <a:xfrm>
            <a:off x="6885432" y="170992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2+ (optional)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6885432" y="2002536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fields, more clients, more markets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457200" y="2670048"/>
            <a:ext cx="2679192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621792" y="2816352"/>
            <a:ext cx="365760" cy="365760"/>
          </a:xfrm>
          <a:prstGeom prst="ellipse">
            <a:avLst/>
          </a:prstGeom>
          <a:solidFill>
            <a:srgbClr val="123458"/>
          </a:solidFill>
          <a:ln/>
        </p:spPr>
      </p:sp>
      <p:pic>
        <p:nvPicPr>
          <p:cNvPr id="35" name="Image 4" descr="assets/handshak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2871216"/>
            <a:ext cx="256032" cy="25603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078992" y="2816352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621792" y="3273552"/>
            <a:ext cx="23500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directly to the CCO / Head of Supplier Partnerships at mid-size aggregators (50–300 staff, 100–500 suppliers). Sales-led, 2–4 month cycle. The single best sales moment: a live demo on a real Hertz or Sixt PDF.</a:t>
            </a:r>
            <a:endParaRPr lang="en-US" sz="930" dirty="0"/>
          </a:p>
        </p:txBody>
      </p:sp>
      <p:sp>
        <p:nvSpPr>
          <p:cNvPr id="38" name="Shape 31"/>
          <p:cNvSpPr/>
          <p:nvPr/>
        </p:nvSpPr>
        <p:spPr>
          <a:xfrm>
            <a:off x="3278124" y="2670048"/>
            <a:ext cx="2679192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3442716" y="2816352"/>
            <a:ext cx="365760" cy="365760"/>
          </a:xfrm>
          <a:prstGeom prst="ellipse">
            <a:avLst/>
          </a:prstGeom>
          <a:solidFill>
            <a:srgbClr val="123458"/>
          </a:solidFill>
          <a:ln/>
        </p:spPr>
      </p:sp>
      <p:pic>
        <p:nvPicPr>
          <p:cNvPr id="40" name="Image 5" descr="assets/bullsey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7580" y="2871216"/>
            <a:ext cx="256032" cy="25603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3899916" y="2816352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Greenlight to Full Deployment</a:t>
            </a:r>
            <a:endParaRPr lang="en-US" sz="1150" dirty="0"/>
          </a:p>
        </p:txBody>
      </p:sp>
      <p:sp>
        <p:nvSpPr>
          <p:cNvPr id="42" name="Text 34"/>
          <p:cNvSpPr/>
          <p:nvPr/>
        </p:nvSpPr>
        <p:spPr>
          <a:xfrm>
            <a:off x="3442716" y="3273552"/>
            <a:ext cx="23500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≥90% field coverage at the pilot's top 50 combinations · ≥95% extraction accuracy at that scale · all 3 content-team workshops signed off · ≥4-week shadow mode completed clean.</a:t>
            </a:r>
            <a:endParaRPr lang="en-US" sz="930" dirty="0"/>
          </a:p>
        </p:txBody>
      </p:sp>
      <p:sp>
        <p:nvSpPr>
          <p:cNvPr id="43" name="Shape 35"/>
          <p:cNvSpPr/>
          <p:nvPr/>
        </p:nvSpPr>
        <p:spPr>
          <a:xfrm>
            <a:off x="6099048" y="2670048"/>
            <a:ext cx="2679192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6263640" y="2816352"/>
            <a:ext cx="365760" cy="365760"/>
          </a:xfrm>
          <a:prstGeom prst="ellipse">
            <a:avLst/>
          </a:prstGeom>
          <a:solidFill>
            <a:srgbClr val="123458"/>
          </a:solidFill>
          <a:ln/>
        </p:spPr>
      </p:sp>
      <p:pic>
        <p:nvPicPr>
          <p:cNvPr id="45" name="Image 6" descr="assets/eur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8504" y="2871216"/>
            <a:ext cx="256032" cy="256032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6720840" y="2816352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 Model</a:t>
            </a:r>
            <a:endParaRPr lang="en-US" sz="1150" dirty="0"/>
          </a:p>
        </p:txBody>
      </p:sp>
      <p:sp>
        <p:nvSpPr>
          <p:cNvPr id="47" name="Text 38"/>
          <p:cNvSpPr/>
          <p:nvPr/>
        </p:nvSpPr>
        <p:spPr>
          <a:xfrm>
            <a:off x="6263640" y="3273552"/>
            <a:ext cx="23500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SaaS subscription as the primary model (€60k–90k/yr Growth tier), a one-time €10k–25k onboarding/consulting fee per client, and a licence option for clients with strict self-hosting needs.</a:t>
            </a:r>
            <a:endParaRPr lang="en-US" sz="930" dirty="0"/>
          </a:p>
        </p:txBody>
      </p:sp>
      <p:sp>
        <p:nvSpPr>
          <p:cNvPr id="48" name="Text 39"/>
          <p:cNvSpPr/>
          <p:nvPr/>
        </p:nvSpPr>
        <p:spPr>
          <a:xfrm>
            <a:off x="8595360" y="47960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asset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010" y="460858"/>
            <a:ext cx="358445" cy="358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UPGRADE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" y="5669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Demo — from “it can work” to “it resolves”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39776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" y="120700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12070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1100" dirty="0"/>
          </a:p>
        </p:txBody>
      </p:sp>
      <p:pic>
        <p:nvPicPr>
          <p:cNvPr id="9" name="Image 1" descr="asset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91640"/>
            <a:ext cx="137160" cy="1371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77824" y="166420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document per run, single source</a:t>
            </a:r>
            <a:endParaRPr lang="en-US" sz="1050" dirty="0"/>
          </a:p>
        </p:txBody>
      </p:sp>
      <p:pic>
        <p:nvPicPr>
          <p:cNvPr id="11" name="Image 2" descr="assets/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203704"/>
            <a:ext cx="137160" cy="1371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7824" y="217627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absent from primary doc → returns null</a:t>
            </a:r>
            <a:endParaRPr lang="en-US" sz="1050" dirty="0"/>
          </a:p>
        </p:txBody>
      </p:sp>
      <p:pic>
        <p:nvPicPr>
          <p:cNvPr id="13" name="Image 3" descr="asset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715768"/>
            <a:ext cx="137160" cy="1371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77824" y="268833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20/20 fields correct — counting correct nulls as correct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4709160" y="1051560"/>
            <a:ext cx="3977640" cy="2606040"/>
          </a:xfrm>
          <a:prstGeom prst="roundRect">
            <a:avLst>
              <a:gd name="adj" fmla="val 2807"/>
            </a:avLst>
          </a:prstGeom>
          <a:solidFill>
            <a:srgbClr val="EAF0F7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4910328" y="120700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17" name="Text 11"/>
          <p:cNvSpPr/>
          <p:nvPr/>
        </p:nvSpPr>
        <p:spPr>
          <a:xfrm>
            <a:off x="4910328" y="12070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100" dirty="0"/>
          </a:p>
        </p:txBody>
      </p:sp>
      <p:pic>
        <p:nvPicPr>
          <p:cNvPr id="18" name="Image 4" descr="asset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1682496"/>
            <a:ext cx="146304" cy="14630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29784" y="166420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3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resolution — auto-tries secondary sources</a:t>
            </a:r>
            <a:endParaRPr lang="en-US" sz="1050" dirty="0"/>
          </a:p>
        </p:txBody>
      </p:sp>
      <p:pic>
        <p:nvPicPr>
          <p:cNvPr id="20" name="Image 5" descr="asset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2194560"/>
            <a:ext cx="146304" cy="14630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29784" y="217627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3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Supplier-curated fallback for fields no live document covers</a:t>
            </a:r>
            <a:endParaRPr lang="en-US" sz="1050" dirty="0"/>
          </a:p>
        </p:txBody>
      </p:sp>
      <p:pic>
        <p:nvPicPr>
          <p:cNvPr id="22" name="Image 6" descr="asset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2706624"/>
            <a:ext cx="146304" cy="14630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129784" y="268833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3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25/25 fields resolved — all auto-approved, 0% needing review</a:t>
            </a:r>
            <a:endParaRPr lang="en-US" sz="1050" dirty="0"/>
          </a:p>
        </p:txBody>
      </p:sp>
      <p:sp>
        <p:nvSpPr>
          <p:cNvPr id="24" name="Shape 15"/>
          <p:cNvSpPr/>
          <p:nvPr/>
        </p:nvSpPr>
        <p:spPr>
          <a:xfrm>
            <a:off x="457200" y="3822192"/>
            <a:ext cx="2679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16"/>
          <p:cNvSpPr/>
          <p:nvPr/>
        </p:nvSpPr>
        <p:spPr>
          <a:xfrm>
            <a:off x="640080" y="39136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25/25</a:t>
            </a:r>
            <a:endParaRPr lang="en-US" sz="2400" dirty="0"/>
          </a:p>
        </p:txBody>
      </p:sp>
      <p:sp>
        <p:nvSpPr>
          <p:cNvPr id="26" name="Text 17"/>
          <p:cNvSpPr/>
          <p:nvPr/>
        </p:nvSpPr>
        <p:spPr>
          <a:xfrm>
            <a:off x="640080" y="4389120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resolved (100%)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3278124" y="3822192"/>
            <a:ext cx="2679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Text 19"/>
          <p:cNvSpPr/>
          <p:nvPr/>
        </p:nvSpPr>
        <p:spPr>
          <a:xfrm>
            <a:off x="3461004" y="39136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400" dirty="0"/>
          </a:p>
        </p:txBody>
      </p:sp>
      <p:sp>
        <p:nvSpPr>
          <p:cNvPr id="29" name="Text 20"/>
          <p:cNvSpPr/>
          <p:nvPr/>
        </p:nvSpPr>
        <p:spPr>
          <a:xfrm>
            <a:off x="3461004" y="4389120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requiring human review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6099048" y="3822192"/>
            <a:ext cx="2679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Text 22"/>
          <p:cNvSpPr/>
          <p:nvPr/>
        </p:nvSpPr>
        <p:spPr>
          <a:xfrm>
            <a:off x="6281928" y="39136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2" name="Text 23"/>
          <p:cNvSpPr/>
          <p:nvPr/>
        </p:nvSpPr>
        <p:spPr>
          <a:xfrm>
            <a:off x="6281928" y="4389120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supplier/country combos covered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8595360" y="47960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4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0" y="457200"/>
            <a:ext cx="731520" cy="7315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3" name="Image 0" descr="asset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3283" y="574243"/>
            <a:ext cx="497434" cy="4974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4173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TermsIQ turns unstructured supplier T&amp;C documents into structured, verified API data — removing the aggregator's biggest invisible liability.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4114800" y="2331720"/>
            <a:ext cx="914400" cy="0"/>
          </a:xfrm>
          <a:prstGeom prst="line">
            <a:avLst/>
          </a:prstGeom>
          <a:noFill/>
          <a:ln w="15875">
            <a:solidFill>
              <a:srgbClr val="2C4A6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88720" y="254203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Limited Risk under the EU AI Act, built on the GDPR finding that it processes no personal data as its primary function — compliant by design, not by afterthought.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371600" y="3383280"/>
            <a:ext cx="6400800" cy="1051560"/>
          </a:xfrm>
          <a:prstGeom prst="roundRect">
            <a:avLst>
              <a:gd name="adj" fmla="val 6957"/>
            </a:avLst>
          </a:prstGeom>
          <a:solidFill>
            <a:srgbClr val="0F2D4D"/>
          </a:solidFill>
          <a:ln/>
        </p:spPr>
      </p:sp>
      <p:sp>
        <p:nvSpPr>
          <p:cNvPr id="8" name="Text 5"/>
          <p:cNvSpPr/>
          <p:nvPr/>
        </p:nvSpPr>
        <p:spPr>
          <a:xfrm>
            <a:off x="1645920" y="338328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 </a:t>
            </a:r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60-day pilot — top 50 supplier/country combinations, one OTA-facing client, shadow mode first — to validate these assumptions against real data.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0" y="464515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D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Dilia Navarro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TermsIQ — IronHack Final Project</dc:title>
  <dc:subject>PptxGenJS Presentation</dc:subject>
  <dc:creator>Dilia Navarro</dc:creator>
  <cp:lastModifiedBy>Dilia Navarro</cp:lastModifiedBy>
  <cp:revision>1</cp:revision>
  <dcterms:created xsi:type="dcterms:W3CDTF">2026-06-17T17:27:03Z</dcterms:created>
  <dcterms:modified xsi:type="dcterms:W3CDTF">2026-06-17T17:27:03Z</dcterms:modified>
</cp:coreProperties>
</file>